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 изображения и логотипа: публичный сайт gorkyfilm.ru. Использование — локальная концепт-демонстрация.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Проверка: Apple Search API — resultCount 0 по запросу «Киностудия Горького», country=ru, entity=software; прямой поиск Google Play; прямой поиск RuStore. Дополнительно проверены gorkyfilm.ru и museum.gorkyfilm.ru.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https://museum.gorkyfilm.ru/about_museum; https://gorkyfilm.ru/about/history/; https://gorkyfilm.ru/about/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Продуктовая гипотеза. Фактический маршрут и точки требуют обследования и согласования.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Пользовательский путь — проектное предложение. Интеграция с билетом требует технической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названия сцен и порядок маршрута являются демонстрационными. Не показывать как подтверждённую схему павильона.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расположен локально в папке deliverables/gorkyfilm-app-prototype. Изображения: публичные материалы gorkyfilm.ru и museum.gorkyfilm.ru.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Механики реализованы в локальном прототипе. Звуки в концепте синтезируются браузером и не используют защищённые фонограммы.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Палитра и семейство RF Dewi извлечены из публичных CSS/SVG сайта gorkyfilm.ru. Это визуальная интерпретация, не официальный брендбук. Все 12 референсов — публичные изображения сайтов Киностудии и музея.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Срок является ориентиром концепции и зависит от согласований, прав и интеграций.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метрики — предлагаемые цели для согласования, не обещанные результаты.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источники: https://gorkyfilm.ru/; https://gorkyfilm.ru/events/; https://museum.gorkyfilm.ru/; https://museum.gorkyfilm.ru/about_museum; https://gorkyfilm.ru/about/history/.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· 02.09.2026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909560" y="65105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КИНОСТУДИЯ ГОРЬКОГО · ВНУТРИ КАДРА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59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nazarov/.codex/.chatgpt-projects/g-p-6a9856a547748191b01a7d35c7786801/deliverables/gorkyfilm-deck-assets/mus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2F59B3">
              <a:alpha val="6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12680" y="731520"/>
            <a:ext cx="2468880" cy="2468880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pic>
        <p:nvPicPr>
          <p:cNvPr id="5" name="Image 1" descr="/Users/alexandernazarov/.codex/.chatgpt-projects/g-p-6a9856a547748191b01a7d35c7786801/deliverables/gorkyfilm-deck-assets/logo-white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475488"/>
            <a:ext cx="2606040" cy="46793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1901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СПУТНИК ЭКСКУРСИИ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30352" y="22860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</a:t>
            </a:r>
            <a:endParaRPr lang="en-US" sz="4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КАДРА</a:t>
            </a:r>
            <a:endParaRPr lang="en-US" sz="4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4590288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посмотреть Киностудию — пройти путь от зрителя до автора своего кадра.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94360" y="571500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5788152"/>
            <a:ext cx="2404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4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КОНЦЕПТ · WEB/PWA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АУДИТ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Отдельного официального приложения не найдено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2 сентября 2026 года. Это результат поиска, а не доказательство абсолютного отсутствия во всех каналах.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1993392" cy="1426464"/>
          </a:xfrm>
          <a:prstGeom prst="roundRect">
            <a:avLst>
              <a:gd name="adj" fmla="val 7692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6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87168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50545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результатов по точному запросу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16352" y="2029968"/>
            <a:ext cx="1993392" cy="1426464"/>
          </a:xfrm>
          <a:prstGeom prst="roundRect">
            <a:avLst>
              <a:gd name="adj" fmla="val 7692"/>
            </a:avLst>
          </a:prstGeom>
          <a:solidFill>
            <a:srgbClr val="F0F2F6"/>
          </a:solidFill>
          <a:ln w="12700">
            <a:solidFill>
              <a:srgbClr val="F0F2F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0944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6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487168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9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50545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показаны нерелевантные симуляторы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84064" y="2029968"/>
            <a:ext cx="1993392" cy="1426464"/>
          </a:xfrm>
          <a:prstGeom prst="roundRect">
            <a:avLst>
              <a:gd name="adj" fmla="val 7692"/>
            </a:avLst>
          </a:prstGeom>
          <a:solidFill>
            <a:srgbClr val="F0F2F6"/>
          </a:solidFill>
          <a:ln w="12700">
            <a:solidFill>
              <a:srgbClr val="F0F2F6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48656" y="22128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6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RuStore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487168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E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5797296" y="250545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нечёткая выдача без официального продукта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325880"/>
            <a:ext cx="4133088" cy="4434840"/>
          </a:xfrm>
          <a:prstGeom prst="roundRect">
            <a:avLst>
              <a:gd name="adj" fmla="val 3540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ЕСТЬ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1920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web‑экосистема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7772400" y="27889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0" y="28712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27797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gorkyfilm.ru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30266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бренд, проекты, услуги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772400" y="35387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36210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35295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museum.gorkyfilm.ru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3776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и билеты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772400" y="4288536"/>
            <a:ext cx="310896" cy="3108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43708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30" name="Text 28"/>
          <p:cNvSpPr txBox="1"/>
          <p:nvPr/>
        </p:nvSpPr>
        <p:spPr>
          <a:xfrm>
            <a:off x="8211312" y="4279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110years.gorkyfilm.ru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4526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 интерактив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4005072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spc="-5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Возможность: добавить экскурсионный слой, не создавая ещё один изолированный каталог.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66928" y="5175504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" y="5248656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WEB‑ПРИЛОЖЕНИЕ БЕЗ УСТАНОВКИ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Уникальное место уже умеет превращать зрителя в автора</a:t>
            </a:r>
            <a:endParaRPr lang="en-US" sz="3100" dirty="0"/>
          </a:p>
        </p:txBody>
      </p:sp>
      <p:pic>
        <p:nvPicPr>
          <p:cNvPr id="4" name="Image 0" descr="/Users/alexandernazarov/.codex/.chatgpt-projects/g-p-6a9856a547748191b01a7d35c7786801/deliverables/gorkyfilm-deck-assets/about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548640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" y="4553712"/>
            <a:ext cx="2926080" cy="786384"/>
          </a:xfrm>
          <a:prstGeom prst="roundRect">
            <a:avLst>
              <a:gd name="adj" fmla="val 11628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87552" y="4681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м²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47548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интерактивного музея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Наследие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9385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с 1915 года, фильмы, режиссёры, костюмы, техника и архивные фонды.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92240" y="2926080"/>
            <a:ext cx="4480560" cy="0"/>
          </a:xfrm>
          <a:prstGeom prst="line">
            <a:avLst/>
          </a:prstGeom>
          <a:noFill/>
          <a:ln w="12700">
            <a:solidFill>
              <a:srgbClr val="CCD2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Настоящее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360273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Интерактивные экспонаты, образовательные программы, молодёжный контент и новые технологии производства.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492240" y="4892040"/>
            <a:ext cx="4663440" cy="621792"/>
          </a:xfrm>
          <a:prstGeom prst="roundRect">
            <a:avLst>
              <a:gd name="adj" fmla="val 14706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93408" y="507492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спутник соединяет эти два слоя в одном маршруте.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nazarov/.codex/.chatgpt-projects/g-p-6a9856a547748191b01a7d35c7786801/deliverables/gorkyfilm-deck-assets/logo-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84048"/>
            <a:ext cx="2148840" cy="38584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" y="13898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E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ПРОДУКТОВАЯ ИДЕЯ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78308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spc="-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точка экскурсии</a:t>
            </a:r>
            <a:endParaRPr lang="en-US" sz="3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700" b="1" spc="-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становится кадром.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585216" y="33375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Кадры собираются в персональную афишу — эмоциональный финал и естественный мост к следующей программе.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4828032"/>
            <a:ext cx="1143000" cy="713232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27632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074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075688" y="4828032"/>
            <a:ext cx="1143000" cy="713232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8840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63240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58568" y="5074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11296" y="4828032"/>
            <a:ext cx="1143000" cy="713232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84448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98848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94176" y="5074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946904" y="4828032"/>
            <a:ext cx="1143000" cy="713232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0056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34456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29784" y="5074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82512" y="4828032"/>
            <a:ext cx="1143000" cy="713232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55664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70064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65392" y="5074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818120" y="4828032"/>
            <a:ext cx="1143000" cy="713232"/>
          </a:xfrm>
          <a:prstGeom prst="rect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91272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05672" y="4910328"/>
            <a:ext cx="82296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01000" y="5074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646920" y="1005840"/>
            <a:ext cx="2011680" cy="2011680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104120" y="1810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ПОСЕТИТЕЛЯ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цифровой контакт — до, внутри и после экскурсии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401568" cy="4114800"/>
          </a:xfrm>
          <a:prstGeom prst="roundRect">
            <a:avLst>
              <a:gd name="adj" fmla="val 4301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502920" cy="502920"/>
          </a:xfrm>
          <a:prstGeom prst="ellipse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6090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spc="-55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визита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41248" y="3401568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3328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вход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9867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3913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и доступность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572000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4498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интереса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6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 из билета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70832" y="1609344"/>
            <a:ext cx="3401568" cy="4114800"/>
          </a:xfrm>
          <a:prstGeom prst="roundRect">
            <a:avLst>
              <a:gd name="adj" fmla="val 4301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01952"/>
            <a:ext cx="502920" cy="502920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26864" y="205740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266090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spc="-5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павильоне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45152" y="3401568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328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коротких сцен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45152" y="3986784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28032" y="3913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 и наблюдение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45152" y="457200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4498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прогресс группы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60" kern="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в разрешённой точке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74736" y="1609344"/>
            <a:ext cx="3401568" cy="4114800"/>
          </a:xfrm>
          <a:prstGeom prst="roundRect">
            <a:avLst>
              <a:gd name="adj" fmla="val 4301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30768" y="1901952"/>
            <a:ext cx="502920" cy="502920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30768" y="205740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430768" y="266090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spc="-5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449056" y="3401568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31936" y="3328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личная афиша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49056" y="3986784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31936" y="3913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поделиться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49056" y="457200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31936" y="4498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программа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430768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60" kern="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 результат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ДЕМОНСТРАЦИОННЫЙ МАРШРУТ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сцен — от истории до собственного титра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60120" y="2788920"/>
            <a:ext cx="10040112" cy="0"/>
          </a:xfrm>
          <a:prstGeom prst="line">
            <a:avLst/>
          </a:prstGeom>
          <a:noFill/>
          <a:ln w="25400">
            <a:solidFill>
              <a:srgbClr val="CCD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965960"/>
            <a:ext cx="1481328" cy="1005840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6816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35915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3310128"/>
            <a:ext cx="320040" cy="320040"/>
          </a:xfrm>
          <a:prstGeom prst="ellipse">
            <a:avLst/>
          </a:prstGeom>
          <a:solidFill>
            <a:srgbClr val="E9F1FF"/>
          </a:solidFill>
          <a:ln w="12700">
            <a:solidFill>
              <a:srgbClr val="2F59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37947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кадр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4988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23744" y="1965960"/>
            <a:ext cx="1481328" cy="1005840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5184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52344" y="235915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99816" y="3310128"/>
            <a:ext cx="320040" cy="320040"/>
          </a:xfrm>
          <a:prstGeom prst="ellipse">
            <a:avLst/>
          </a:prstGeom>
          <a:solidFill>
            <a:srgbClr val="E9F1FF"/>
          </a:solidFill>
          <a:ln w="12700">
            <a:solidFill>
              <a:srgbClr val="2F59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78024" y="37947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Камера видит иначе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523744" y="44988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крупность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0" y="1965960"/>
            <a:ext cx="1481328" cy="1005840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7568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235915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65192" y="3310128"/>
            <a:ext cx="320040" cy="320040"/>
          </a:xfrm>
          <a:prstGeom prst="ellipse">
            <a:avLst/>
          </a:prstGeom>
          <a:solidFill>
            <a:srgbClr val="E9F1FF"/>
          </a:solidFill>
          <a:ln w="12700">
            <a:solidFill>
              <a:srgbClr val="2F59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43400" y="37947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Костюм рассказывает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4988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характер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54496" y="1965960"/>
            <a:ext cx="1481328" cy="1005840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2944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83096" y="235915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30568" y="3310128"/>
            <a:ext cx="320040" cy="320040"/>
          </a:xfrm>
          <a:prstGeom prst="ellipse">
            <a:avLst/>
          </a:prstGeom>
          <a:solidFill>
            <a:srgbClr val="E9F1FF"/>
          </a:solidFill>
          <a:ln w="12700">
            <a:solidFill>
              <a:srgbClr val="2F59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08776" y="37947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 создаёт мир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44988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настроение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19872" y="1965960"/>
            <a:ext cx="1481328" cy="1005840"/>
          </a:xfrm>
          <a:prstGeom prst="rect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1312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8320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48472" y="235915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695944" y="3310128"/>
            <a:ext cx="320040" cy="320040"/>
          </a:xfrm>
          <a:prstGeom prst="ellipse">
            <a:avLst/>
          </a:prstGeom>
          <a:solidFill>
            <a:srgbClr val="E9F1FF"/>
          </a:solidFill>
          <a:ln w="12700">
            <a:solidFill>
              <a:srgbClr val="2F59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74152" y="37947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павильона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19872" y="44988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985248" y="1965960"/>
            <a:ext cx="1481328" cy="1005840"/>
          </a:xfrm>
          <a:prstGeom prst="rect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76688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83696" y="2075688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213848" y="235915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561320" y="3310128"/>
            <a:ext cx="320040" cy="320040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939528" y="37947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титр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985248" y="44988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417320" y="5138928"/>
            <a:ext cx="9281160" cy="530352"/>
          </a:xfrm>
          <a:prstGeom prst="roundRect">
            <a:avLst>
              <a:gd name="adj" fmla="val 13793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64208" y="5294376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и точки — гипотеза. Финальная последовательность появляется после обхода площадки с экскурсоводом.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ЭКРАНЫ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показывает путь, а не набор макетов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41248" y="1481328"/>
            <a:ext cx="2331720" cy="4315968"/>
          </a:xfrm>
          <a:prstGeom prst="roundRect">
            <a:avLst>
              <a:gd name="adj" fmla="val 8627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72768"/>
            <a:ext cx="2185416" cy="413308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7302" y="1591056"/>
            <a:ext cx="559613" cy="45720"/>
          </a:xfrm>
          <a:prstGeom prst="roundRect">
            <a:avLst>
              <a:gd name="adj" fmla="val 60000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pic>
        <p:nvPicPr>
          <p:cNvPr id="7" name="Image 0" descr="/Users/alexandernazarov/.codex/.chatgpt-projects/g-p-6a9856a547748191b01a7d35c7786801/deliverables/gorkyfilm-deck-assets/mus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185416" cy="1417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42416" y="174650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b="1" spc="55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КИНОСТУДИЯ ГОРЬКОГО</a:t>
            </a:r>
            <a:endParaRPr lang="en-US" sz="58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45643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80" kern="0" dirty="0">
                <a:solidFill>
                  <a:srgbClr val="E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ВИЗИТ</a:t>
            </a:r>
            <a:endParaRPr lang="en-US" sz="62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65760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-5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кадра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315968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вход, правила и шесть сцен экскурсии.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1051560" y="5184648"/>
            <a:ext cx="1911096" cy="347472"/>
          </a:xfrm>
          <a:prstGeom prst="roundRect">
            <a:avLst>
              <a:gd name="adj" fmla="val 18421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6424" y="5285232"/>
            <a:ext cx="1801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путешествие</a:t>
            </a:r>
            <a:endParaRPr lang="en-US" sz="68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592531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из билета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31336" y="1481328"/>
            <a:ext cx="2331720" cy="4315968"/>
          </a:xfrm>
          <a:prstGeom prst="roundRect">
            <a:avLst>
              <a:gd name="adj" fmla="val 8627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04488" y="1572768"/>
            <a:ext cx="2185416" cy="4133088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17390" y="1591056"/>
            <a:ext cx="559613" cy="45720"/>
          </a:xfrm>
          <a:prstGeom prst="roundRect">
            <a:avLst>
              <a:gd name="adj" fmla="val 60000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pic>
        <p:nvPicPr>
          <p:cNvPr id="18" name="Image 1" descr="/Users/alexandernazarov/.codex/.chatgpt-projects/g-p-6a9856a547748191b01a7d35c7786801/deliverables/gorkyfilm-deck-assets/hero-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011680"/>
            <a:ext cx="2185416" cy="1417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032504" y="174650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b="1" spc="55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КИНОСТУДИЯ ГОРЬКОГО</a:t>
            </a:r>
            <a:endParaRPr lang="en-US" sz="580" dirty="0"/>
          </a:p>
        </p:txBody>
      </p:sp>
      <p:sp>
        <p:nvSpPr>
          <p:cNvPr id="20" name="Text 16"/>
          <p:cNvSpPr txBox="1"/>
          <p:nvPr/>
        </p:nvSpPr>
        <p:spPr>
          <a:xfrm>
            <a:off x="4041648" y="345643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80" kern="0" dirty="0">
                <a:solidFill>
                  <a:srgbClr val="E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 03 · 2 МИН</a:t>
            </a:r>
            <a:endParaRPr lang="en-US" sz="620" dirty="0"/>
          </a:p>
        </p:txBody>
      </p:sp>
      <p:sp>
        <p:nvSpPr>
          <p:cNvPr id="21" name="Text 17"/>
          <p:cNvSpPr txBox="1"/>
          <p:nvPr/>
        </p:nvSpPr>
        <p:spPr>
          <a:xfrm>
            <a:off x="4041648" y="365760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spc="-5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Костюм рассказывает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041648" y="4315968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деталь и прочитайте характер героя.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4041648" y="5184648"/>
            <a:ext cx="1911096" cy="347472"/>
          </a:xfrm>
          <a:prstGeom prst="roundRect">
            <a:avLst>
              <a:gd name="adj" fmla="val 18421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096512" y="5285232"/>
            <a:ext cx="1801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Зафиксировать выбор</a:t>
            </a:r>
            <a:endParaRPr lang="en-US" sz="680" dirty="0"/>
          </a:p>
        </p:txBody>
      </p:sp>
      <p:sp>
        <p:nvSpPr>
          <p:cNvPr id="25" name="Text 21"/>
          <p:cNvSpPr txBox="1"/>
          <p:nvPr/>
        </p:nvSpPr>
        <p:spPr>
          <a:xfrm>
            <a:off x="3831336" y="592531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 в точке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821424" y="1481328"/>
            <a:ext cx="2331720" cy="4315968"/>
          </a:xfrm>
          <a:prstGeom prst="roundRect">
            <a:avLst>
              <a:gd name="adj" fmla="val 8627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94576" y="1572768"/>
            <a:ext cx="2185416" cy="4133088"/>
          </a:xfrm>
          <a:prstGeom prst="roundRect">
            <a:avLst>
              <a:gd name="adj" fmla="val 7531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707478" y="1591056"/>
            <a:ext cx="559613" cy="45720"/>
          </a:xfrm>
          <a:prstGeom prst="roundRect">
            <a:avLst>
              <a:gd name="adj" fmla="val 60000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pic>
        <p:nvPicPr>
          <p:cNvPr id="29" name="Image 2" descr="/Users/alexandernazarov/.codex/.chatgpt-projects/g-p-6a9856a547748191b01a7d35c7786801/deliverables/gorkyfilm-deck-assets/about-0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011680"/>
            <a:ext cx="2185416" cy="141732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022592" y="174650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b="1" spc="5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КИНОСТУДИЯ ГОРЬКОГО</a:t>
            </a:r>
            <a:endParaRPr lang="en-US" sz="580" dirty="0"/>
          </a:p>
        </p:txBody>
      </p:sp>
      <p:sp>
        <p:nvSpPr>
          <p:cNvPr id="31" name="Text 26"/>
          <p:cNvSpPr txBox="1"/>
          <p:nvPr/>
        </p:nvSpPr>
        <p:spPr>
          <a:xfrm>
            <a:off x="7031736" y="345643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80" kern="0" dirty="0">
                <a:solidFill>
                  <a:srgbClr val="E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МОЙ ФИЛЬМ</a:t>
            </a:r>
            <a:endParaRPr lang="en-US" sz="620" dirty="0"/>
          </a:p>
        </p:txBody>
      </p:sp>
      <p:sp>
        <p:nvSpPr>
          <p:cNvPr id="32" name="Text 27"/>
          <p:cNvSpPr txBox="1"/>
          <p:nvPr/>
        </p:nvSpPr>
        <p:spPr>
          <a:xfrm>
            <a:off x="7031736" y="3657600"/>
            <a:ext cx="1911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 после команды «Мотор!»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7031736" y="4315968"/>
            <a:ext cx="1911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Режиссёр · Истории фильмов</a:t>
            </a:r>
            <a:endParaRPr lang="en-US" sz="720" dirty="0"/>
          </a:p>
        </p:txBody>
      </p:sp>
      <p:sp>
        <p:nvSpPr>
          <p:cNvPr id="34" name="Shape 29"/>
          <p:cNvSpPr/>
          <p:nvPr/>
        </p:nvSpPr>
        <p:spPr>
          <a:xfrm>
            <a:off x="7031736" y="5184648"/>
            <a:ext cx="1911096" cy="347472"/>
          </a:xfrm>
          <a:prstGeom prst="roundRect">
            <a:avLst>
              <a:gd name="adj" fmla="val 18421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086600" y="5285232"/>
            <a:ext cx="1801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афишу</a:t>
            </a:r>
            <a:endParaRPr lang="en-US" sz="680" dirty="0"/>
          </a:p>
        </p:txBody>
      </p:sp>
      <p:sp>
        <p:nvSpPr>
          <p:cNvPr id="36" name="Text 31"/>
          <p:cNvSpPr txBox="1"/>
          <p:nvPr/>
        </p:nvSpPr>
        <p:spPr>
          <a:xfrm>
            <a:off x="6821424" y="592531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финал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646920" y="1554480"/>
            <a:ext cx="1965960" cy="4023360"/>
          </a:xfrm>
          <a:prstGeom prst="roundRect">
            <a:avLst>
              <a:gd name="adj" fmla="val 6512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9893808" y="184708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4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9893808" y="23865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10076688" y="23134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интереса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9893808" y="28437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10076688" y="27706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сцен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9893808" y="33009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10076688" y="32278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9893808" y="37581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10076688" y="36850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 кадра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9893808" y="42153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10076688" y="41422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афиши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9893808" y="46725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10076688" y="4599432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прогресс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МЕХАНИКИ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 показывает то, чего не видно с первого взгляда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3063240" cy="4133088"/>
          </a:xfrm>
          <a:prstGeom prst="roundRect">
            <a:avLst>
              <a:gd name="adj" fmla="val 4776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0195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756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529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1129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визуальный эпизод меняет настроение в зависимости от выбранной звуковой среды.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501091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50840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УСЛЫШАТЬ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60520" y="1609344"/>
            <a:ext cx="3063240" cy="4133088"/>
          </a:xfrm>
          <a:prstGeom prst="roundRect">
            <a:avLst>
              <a:gd name="adj" fmla="val 4776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90195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20756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8529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 кадра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51129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Камера, свет и декорация проявляются по одному — посетитель видит работу киногруппы.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34840" y="501091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50840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54112" y="1609344"/>
            <a:ext cx="3063240" cy="4133088"/>
          </a:xfrm>
          <a:prstGeom prst="roundRect">
            <a:avLst>
              <a:gd name="adj" fmla="val 4776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8432" y="1901952"/>
            <a:ext cx="713232" cy="713232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28432" y="20756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028432" y="28529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Личная афиша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028432" y="351129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Выборы по маршруту собираются в цифровой сувенир и рекомендацию следующей программы.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28432" y="501091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29016" y="508406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ЯЗЫК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Продолжение стиля Киностудии, а не новый бренд</a:t>
            </a:r>
            <a:endParaRPr lang="en-US" sz="3100" dirty="0"/>
          </a:p>
        </p:txBody>
      </p:sp>
      <p:pic>
        <p:nvPicPr>
          <p:cNvPr id="4" name="Image 0" descr="/Users/alexandernazarov/.codex/.chatgpt-projects/g-p-6a9856a547748191b01a7d35c7786801/deliverables/gorkyfilm-deck-assets/mood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6812280" cy="4370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09344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68512" y="16824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Студийный синий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668512" y="18928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#2F59B3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818120" y="2313432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68512" y="23865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Сигнальный красный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68512" y="25968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#EA3D52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818120" y="3017520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040606"/>
          </a:solidFill>
          <a:ln w="12700">
            <a:solidFill>
              <a:srgbClr val="04060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68512" y="30906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чёрный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668512" y="3300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#040606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818120" y="3721608"/>
            <a:ext cx="658368" cy="475488"/>
          </a:xfrm>
          <a:prstGeom prst="roundRect">
            <a:avLst>
              <a:gd name="adj" fmla="val 11538"/>
            </a:avLst>
          </a:prstGeom>
          <a:solidFill>
            <a:srgbClr val="E9F1FF"/>
          </a:solidFill>
          <a:ln w="12700">
            <a:solidFill>
              <a:srgbClr val="CCD2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68512" y="3794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Холодный свет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668512" y="400507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70" kern="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#E9F1FF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8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DEWI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51206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расширенный заголовок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спокойный основной текст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один реальный маршрут за 8–10 недель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4650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1499616" y="17647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экскурсионная программа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572768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74650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4288536" y="17647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подтверждённых точек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4768" y="1572768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1746504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764792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контента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933688" y="1572768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16568" y="174650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866376" y="17647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персональная афиша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694176"/>
            <a:ext cx="566928" cy="566928"/>
          </a:xfrm>
          <a:prstGeom prst="ellipse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87705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16736" y="3977640"/>
            <a:ext cx="1993392" cy="0"/>
          </a:xfrm>
          <a:prstGeom prst="line">
            <a:avLst/>
          </a:prstGeom>
          <a:noFill/>
          <a:ln w="25400">
            <a:solidFill>
              <a:srgbClr val="CCD2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4988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Обход и сценарий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9926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недели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19856" y="3694176"/>
            <a:ext cx="566928" cy="566928"/>
          </a:xfrm>
          <a:prstGeom prst="ellipse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9856" y="387705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078224" y="3977640"/>
            <a:ext cx="1993392" cy="0"/>
          </a:xfrm>
          <a:prstGeom prst="line">
            <a:avLst/>
          </a:prstGeom>
          <a:noFill/>
          <a:ln w="25400">
            <a:solidFill>
              <a:srgbClr val="CCD2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19856" y="44988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и контент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19856" y="49926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недели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3694176"/>
            <a:ext cx="566928" cy="566928"/>
          </a:xfrm>
          <a:prstGeom prst="ellipse">
            <a:avLst/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81344" y="387705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39712" y="3977640"/>
            <a:ext cx="1993392" cy="0"/>
          </a:xfrm>
          <a:prstGeom prst="line">
            <a:avLst/>
          </a:prstGeom>
          <a:noFill/>
          <a:ln w="25400">
            <a:solidFill>
              <a:srgbClr val="CCD2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1344" y="44988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181344" y="49926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недели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42832" y="3694176"/>
            <a:ext cx="566928" cy="566928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42832" y="3877056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942832" y="44988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Полевой тест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942832" y="49926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недели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" y="5641848"/>
            <a:ext cx="10716768" cy="420624"/>
          </a:xfrm>
          <a:prstGeom prst="roundRect">
            <a:avLst>
              <a:gd name="adj" fmla="val 13043"/>
            </a:avLst>
          </a:prstGeom>
          <a:solidFill>
            <a:srgbClr val="F0F2F6"/>
          </a:solidFill>
          <a:ln w="12700">
            <a:solidFill>
              <a:srgbClr val="F0F2F6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769864"/>
            <a:ext cx="10195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оценки — после выбора павильона, получения планов, правил съёмки, бренд‑материалов и владельца контента.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0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21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УСПЕХА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9494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должен доказать вовлечение, а не просто красоту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971800" cy="1554480"/>
          </a:xfrm>
          <a:prstGeom prst="roundRect">
            <a:avLst>
              <a:gd name="adj" fmla="val 8235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647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запускают маршрут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04488" y="1536192"/>
            <a:ext cx="2971800" cy="1554480"/>
          </a:xfrm>
          <a:prstGeom prst="roundRect">
            <a:avLst>
              <a:gd name="adj" fmla="val 8235"/>
            </a:avLst>
          </a:prstGeom>
          <a:solidFill>
            <a:srgbClr val="2F59B3"/>
          </a:solidFill>
          <a:ln w="12700">
            <a:solidFill>
              <a:srgbClr val="2F59B3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23944" y="17647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123944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доходят до афиши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474720"/>
            <a:ext cx="2971800" cy="1554480"/>
          </a:xfrm>
          <a:prstGeom prst="roundRect">
            <a:avLst>
              <a:gd name="adj" fmla="val 8235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7033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40740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сохраняют или делятся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04488" y="3474720"/>
            <a:ext cx="2971800" cy="1554480"/>
          </a:xfrm>
          <a:prstGeom prst="roundRect">
            <a:avLst>
              <a:gd name="adj" fmla="val 8235"/>
            </a:avLst>
          </a:prstGeom>
          <a:solidFill>
            <a:srgbClr val="E9F1FF"/>
          </a:solidFill>
          <a:ln w="12700">
            <a:solidFill>
              <a:srgbClr val="E9F1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23944" y="37033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4,3/5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123944" y="440740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полезности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24928" y="1536192"/>
            <a:ext cx="4160520" cy="3493008"/>
          </a:xfrm>
          <a:prstGeom prst="roundRect">
            <a:avLst>
              <a:gd name="adj" fmla="val 4188"/>
            </a:avLst>
          </a:prstGeom>
          <a:solidFill>
            <a:srgbClr val="000614"/>
          </a:solidFill>
          <a:ln w="12700">
            <a:solidFill>
              <a:srgbClr val="00061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54112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10" kern="0" dirty="0">
                <a:solidFill>
                  <a:srgbClr val="E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вопрос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754112" y="2359152"/>
            <a:ext cx="3310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5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Помогает ли цифровой слой экскурсоводу удерживать внимание группы?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754112" y="3977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Сравниваем группы с прототипом и без него. Цели уточняются после базового замера.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54112" y="5230368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54696" y="5303520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+10–15 МИН К ЭКСКУРСИИ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A5C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59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nazarov/.codex/.chatgpt-projects/g-p-6a9856a547748191b01a7d35c7786801/deliverables/gorkyfilm-deck-assets/logo-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457200"/>
            <a:ext cx="2514600" cy="45151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" y="15361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938528"/>
            <a:ext cx="6583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0" b="1" spc="-1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минут на площадке.</a:t>
            </a:r>
            <a:endParaRPr lang="en-US" sz="3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500" b="1" spc="-1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дней до первого</a:t>
            </a:r>
            <a:endParaRPr lang="en-US" sz="3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500" b="1" spc="-1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кликабельного маршрута.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58368" y="4736592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" y="46634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одну действующую программу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>
            <a:off x="658368" y="5129784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505663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маршрут с экскурсоводом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58368" y="5522976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544982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6 точек и права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58368" y="5916168"/>
            <a:ext cx="82296" cy="82296"/>
          </a:xfrm>
          <a:prstGeom prst="ellipse">
            <a:avLst/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584301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 кликабельный сценарий на реальных материалах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7589520" y="1051560"/>
            <a:ext cx="3886200" cy="480060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36992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70" kern="0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ГОТОВО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918704" y="18470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прототип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7936992" y="25146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40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темы, шесть сцен, звук, слои кадра, прогресс и персональная афиша.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936992" y="3703320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EA3D52"/>
          </a:solidFill>
          <a:ln w="12700">
            <a:solidFill>
              <a:srgbClr val="EA3D52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19872" y="3904488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ПРОТОТИП ЛОКАЛЬНО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7936992" y="44805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5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deliverables/gorkyfilm-app-prototype/index.html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936992" y="5230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99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Концепция. Перед внешней публикацией согласовать бренд, контент, маршрут и права.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Concept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Киностудия Горького: Внутри кадра</dc:title>
  <dc:subject>Digital excursion companion for Gorky Film Studio</dc:subject>
  <dc:creator>Concept proposal</dc:creator>
  <cp:lastModifiedBy>Concept proposal</cp:lastModifiedBy>
  <cp:revision>1</cp:revision>
  <dcterms:created xsi:type="dcterms:W3CDTF">2026-09-02T18:29:47Z</dcterms:created>
  <dcterms:modified xsi:type="dcterms:W3CDTF">2026-09-02T18:29:47Z</dcterms:modified>
</cp:coreProperties>
</file>